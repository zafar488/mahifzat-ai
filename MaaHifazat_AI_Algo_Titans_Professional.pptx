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669280" cy="5669280"/>
          </a:xfrm>
          <a:prstGeom prst="ellipse">
            <a:avLst/>
          </a:prstGeom>
          <a:solidFill>
            <a:srgbClr val="0F5A6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0F5A6B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417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B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 / KP  ·  TECHNOLOGY-TRANSFER R&amp;D PROPOSAL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0" y="1874520"/>
            <a:ext cx="1219169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MaaHifazat 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0" y="2907792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B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Maternal Health &amp; Multi-Agent Orchestration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55768" y="3639312"/>
            <a:ext cx="1280160" cy="0"/>
          </a:xfrm>
          <a:prstGeom prst="line">
            <a:avLst/>
          </a:prstGeom>
          <a:noFill/>
          <a:ln w="25400">
            <a:solidFill>
              <a:srgbClr val="0F5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35528" y="397764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072B33">
              <a:alpha val="80000"/>
            </a:srgbClr>
          </a:solidFill>
          <a:ln w="12700">
            <a:solidFill>
              <a:srgbClr val="0F5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35528" y="417880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B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 ·  ALGO TITANS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35528" y="4599432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Zafar Ullah  —  Team Leader</a:t>
            </a:r>
            <a:endParaRPr lang="en-US" sz="15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Ali</a:t>
            </a:r>
            <a:endParaRPr lang="en-US" sz="15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Younus Khan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3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Why MaaHifazat?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rural areas, mothers and babies face critical risks due to ‘The Three Delays’: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54298" cy="2788920"/>
          </a:xfrm>
          <a:prstGeom prst="roundRect">
            <a:avLst>
              <a:gd name="adj" fmla="val 3279"/>
            </a:avLst>
          </a:prstGeom>
          <a:solidFill>
            <a:srgbClr val="F5FAF9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1305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E7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818589" y="2468880"/>
            <a:ext cx="914400" cy="914400"/>
          </a:xfrm>
          <a:prstGeom prst="ellipse">
            <a:avLst/>
          </a:prstGeom>
          <a:solidFill>
            <a:srgbClr val="0F5A6B"/>
          </a:solidFill>
          <a:ln/>
        </p:spPr>
      </p:sp>
      <p:pic>
        <p:nvPicPr>
          <p:cNvPr id="7" name="Image 0" descr="/home/claude/work/icons/delay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7461" y="2587752"/>
            <a:ext cx="676656" cy="6766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566160"/>
            <a:ext cx="29970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A3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in Decision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281421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Unrecognized symptoms leading to late action.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8698" y="1965960"/>
            <a:ext cx="3454298" cy="2788920"/>
          </a:xfrm>
          <a:prstGeom prst="roundRect">
            <a:avLst>
              <a:gd name="adj" fmla="val 3279"/>
            </a:avLst>
          </a:prstGeom>
          <a:solidFill>
            <a:srgbClr val="F5FAF9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69866" y="21305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E7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38648" y="2468880"/>
            <a:ext cx="914400" cy="914400"/>
          </a:xfrm>
          <a:prstGeom prst="ellipse">
            <a:avLst/>
          </a:prstGeom>
          <a:solidFill>
            <a:srgbClr val="0F5A6B"/>
          </a:solidFill>
          <a:ln/>
        </p:spPr>
      </p:sp>
      <p:pic>
        <p:nvPicPr>
          <p:cNvPr id="13" name="Image 1" descr="/home/claude/work/icons/delay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520" y="2587752"/>
            <a:ext cx="676656" cy="6766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97298" y="3566160"/>
            <a:ext cx="29970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A3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in Reaching Help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688738" y="4114800"/>
            <a:ext cx="281421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hospital capabilities and distances.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88757" y="1965960"/>
            <a:ext cx="3454298" cy="2788920"/>
          </a:xfrm>
          <a:prstGeom prst="roundRect">
            <a:avLst>
              <a:gd name="adj" fmla="val 3279"/>
            </a:avLst>
          </a:prstGeom>
          <a:solidFill>
            <a:srgbClr val="F5FAF9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89925" y="21305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E7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9458706" y="2468880"/>
            <a:ext cx="914400" cy="914400"/>
          </a:xfrm>
          <a:prstGeom prst="ellipse">
            <a:avLst/>
          </a:prstGeom>
          <a:solidFill>
            <a:srgbClr val="0F5A6B"/>
          </a:solidFill>
          <a:ln/>
        </p:spPr>
      </p:sp>
      <p:pic>
        <p:nvPicPr>
          <p:cNvPr id="19" name="Image 2" descr="/home/claude/work/icons/delay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578" y="2587752"/>
            <a:ext cx="676656" cy="6766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7357" y="3566160"/>
            <a:ext cx="29970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A3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in Care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508797" y="4114800"/>
            <a:ext cx="281421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Overcrowded facilities and slow triage.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507492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0F5A6B"/>
          </a:solidFill>
          <a:ln/>
          <a:effectLst>
            <a:outerShdw sx="100000" sy="100000" kx="0" ky="0" algn="bl" rotWithShape="0" blurRad="101600" dist="38100" dir="5400000">
              <a:srgbClr val="0A3D49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68680" y="5257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/home/claude/work/icons/go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060" y="5323180"/>
            <a:ext cx="372161" cy="37216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5074920"/>
            <a:ext cx="96770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 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these delays using advanced Machine Learning and AI Agents.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MaaHifazat AI  |  Algo Titans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3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full-stack, scalable application built for clinical environments.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929384"/>
            <a:ext cx="566928" cy="566928"/>
          </a:xfrm>
          <a:prstGeom prst="ellipse">
            <a:avLst/>
          </a:prstGeom>
          <a:solidFill>
            <a:srgbClr val="0F5A6B"/>
          </a:solidFill>
          <a:ln/>
        </p:spPr>
      </p:sp>
      <p:pic>
        <p:nvPicPr>
          <p:cNvPr id="5" name="Image 0" descr="/home/claude/work/icons/back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2003085"/>
            <a:ext cx="419527" cy="419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8562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160520" y="1856232"/>
            <a:ext cx="7482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for asynchronous, high-performance REST APIs.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587752"/>
            <a:ext cx="11094415" cy="0"/>
          </a:xfrm>
          <a:prstGeom prst="line">
            <a:avLst/>
          </a:prstGeom>
          <a:noFill/>
          <a:ln w="9525">
            <a:solidFill>
              <a:srgbClr val="D9E7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770632"/>
            <a:ext cx="566928" cy="566928"/>
          </a:xfrm>
          <a:prstGeom prst="ellipse">
            <a:avLst/>
          </a:prstGeom>
          <a:solidFill>
            <a:srgbClr val="0F5A6B"/>
          </a:solidFill>
          <a:ln/>
        </p:spPr>
      </p:sp>
      <p:pic>
        <p:nvPicPr>
          <p:cNvPr id="10" name="Image 1" descr="/home/claude/work/icons/front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41" y="2844333"/>
            <a:ext cx="419527" cy="4195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697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160520" y="2697480"/>
            <a:ext cx="7482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+ Vite + Tailwind CSS for a highly responsive UI.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3429000"/>
            <a:ext cx="11094415" cy="0"/>
          </a:xfrm>
          <a:prstGeom prst="line">
            <a:avLst/>
          </a:prstGeom>
          <a:noFill/>
          <a:ln w="9525">
            <a:solidFill>
              <a:srgbClr val="D9E7E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3611880"/>
            <a:ext cx="566928" cy="566928"/>
          </a:xfrm>
          <a:prstGeom prst="ellipse">
            <a:avLst/>
          </a:prstGeom>
          <a:solidFill>
            <a:srgbClr val="0F5A6B"/>
          </a:solidFill>
          <a:ln/>
        </p:spPr>
      </p:sp>
      <p:pic>
        <p:nvPicPr>
          <p:cNvPr id="15" name="Image 2" descr="/home/claude/work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3685581"/>
            <a:ext cx="419527" cy="41952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5387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160520" y="3538728"/>
            <a:ext cx="7482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with SQLAlchemy (asyncio) for persistent clinical records.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48640" y="4270248"/>
            <a:ext cx="11094415" cy="0"/>
          </a:xfrm>
          <a:prstGeom prst="line">
            <a:avLst/>
          </a:prstGeom>
          <a:noFill/>
          <a:ln w="9525">
            <a:solidFill>
              <a:srgbClr val="D9E7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4453128"/>
            <a:ext cx="566928" cy="566928"/>
          </a:xfrm>
          <a:prstGeom prst="ellipse">
            <a:avLst/>
          </a:prstGeom>
          <a:solidFill>
            <a:srgbClr val="0F5A6B"/>
          </a:solidFill>
          <a:ln/>
        </p:spPr>
      </p:sp>
      <p:pic>
        <p:nvPicPr>
          <p:cNvPr id="20" name="Image 3" descr="/home/claude/work/icons/a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41" y="4526829"/>
            <a:ext cx="419527" cy="41952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437997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Infrastructure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160520" y="4379976"/>
            <a:ext cx="7482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custom ML models (XGBoost, Random Forest) loaded into a Model Registry.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548640" y="5111496"/>
            <a:ext cx="11094415" cy="0"/>
          </a:xfrm>
          <a:prstGeom prst="line">
            <a:avLst/>
          </a:prstGeom>
          <a:noFill/>
          <a:ln w="9525">
            <a:solidFill>
              <a:srgbClr val="D9E7E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5294376"/>
            <a:ext cx="566928" cy="566928"/>
          </a:xfrm>
          <a:prstGeom prst="ellipse">
            <a:avLst/>
          </a:prstGeom>
          <a:solidFill>
            <a:srgbClr val="0F5A6B"/>
          </a:solidFill>
          <a:ln/>
        </p:spPr>
      </p:sp>
      <p:pic>
        <p:nvPicPr>
          <p:cNvPr id="25" name="Image 4" descr="/home/claude/work/icons/orchestra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41" y="5368077"/>
            <a:ext cx="419527" cy="41952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25880" y="52212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4160520" y="5221224"/>
            <a:ext cx="7482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 connecting 9 AI sub-agents.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MaaHifazat AI  |  Algo Titans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3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MaaHifazat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clinical interface for frontline maternal care teams.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38755" y="1856232"/>
            <a:ext cx="4054611" cy="4379976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12700">
            <a:solidFill>
              <a:srgbClr val="D9E7E5"/>
            </a:solidFill>
            <a:prstDash val="solid"/>
          </a:ln>
          <a:effectLst>
            <a:outerShdw sx="100000" sy="100000" kx="0" ky="0" algn="bl" rotWithShape="0" blurRad="177800" dist="63500" dir="5400000">
              <a:srgbClr val="1C2B30">
                <a:alpha val="22000"/>
              </a:srgbClr>
            </a:outerShdw>
          </a:effectLst>
        </p:spPr>
      </p:sp>
      <p:pic>
        <p:nvPicPr>
          <p:cNvPr id="5" name="Image 0" descr="/home/claude/work/framed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483" y="1965960"/>
            <a:ext cx="3835155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40680" y="1965960"/>
            <a:ext cx="6202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3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Lady Health Workers &amp; Doctors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40680" y="2606040"/>
            <a:ext cx="62023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clinical UI designed for Lady Health Workers (LHWs) and Doctors to manage patient records and alerts easily.</a:t>
            </a:r>
            <a:endParaRPr lang="en-US" sz="1350" dirty="0"/>
          </a:p>
        </p:txBody>
      </p:sp>
      <p:pic>
        <p:nvPicPr>
          <p:cNvPr id="8" name="Image 1" descr="/home/claude/work/icon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36758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79592" y="3657600"/>
            <a:ext cx="576346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patient record management</a:t>
            </a:r>
            <a:endParaRPr lang="en-US" sz="1350" dirty="0"/>
          </a:p>
        </p:txBody>
      </p:sp>
      <p:pic>
        <p:nvPicPr>
          <p:cNvPr id="10" name="Image 2" descr="/home/claude/work/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4242816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79592" y="4224528"/>
            <a:ext cx="576346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maternal &amp; fetal risk alerts</a:t>
            </a:r>
            <a:endParaRPr lang="en-US" sz="1350" dirty="0"/>
          </a:p>
        </p:txBody>
      </p:sp>
      <p:pic>
        <p:nvPicPr>
          <p:cNvPr id="12" name="Image 3" descr="/home/claude/work/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4809744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879592" y="4791456"/>
            <a:ext cx="576346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navigation for clinical workflows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MaaHifazat AI  |  Algo Titans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3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Specialized ML Models in 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vitals and CTG features are processed simultaneously for a unified diagnostic view.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38755" y="1856232"/>
            <a:ext cx="4054611" cy="4379976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12700">
            <a:solidFill>
              <a:srgbClr val="D9E7E5"/>
            </a:solidFill>
            <a:prstDash val="solid"/>
          </a:ln>
          <a:effectLst>
            <a:outerShdw sx="100000" sy="100000" kx="0" ky="0" algn="bl" rotWithShape="0" blurRad="177800" dist="63500" dir="5400000">
              <a:srgbClr val="1C2B30">
                <a:alpha val="22000"/>
              </a:srgbClr>
            </a:outerShdw>
          </a:effectLst>
        </p:spPr>
      </p:sp>
      <p:pic>
        <p:nvPicPr>
          <p:cNvPr id="5" name="Image 0" descr="/home/claude/work/framed/vitals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483" y="1965960"/>
            <a:ext cx="3835155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40680" y="1965960"/>
            <a:ext cx="512064" cy="512064"/>
          </a:xfrm>
          <a:prstGeom prst="ellipse">
            <a:avLst/>
          </a:prstGeom>
          <a:solidFill>
            <a:srgbClr val="0F5A6B"/>
          </a:solidFill>
          <a:ln/>
        </p:spPr>
      </p:sp>
      <p:pic>
        <p:nvPicPr>
          <p:cNvPr id="7" name="Image 1" descr="/home/claude/work/icons/mater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248" y="2032528"/>
            <a:ext cx="378927" cy="3789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9048" y="1965960"/>
            <a:ext cx="5544007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MaternalGuard  </a:t>
            </a:r>
            <a:pPr indent="0" marL="0">
              <a:buNone/>
            </a:pPr>
            <a:r>
              <a:rPr lang="en-US" sz="1400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Maternal Risk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40680" y="2752344"/>
            <a:ext cx="512064" cy="512064"/>
          </a:xfrm>
          <a:prstGeom prst="ellipse">
            <a:avLst/>
          </a:prstGeom>
          <a:solidFill>
            <a:srgbClr val="0F5A6B"/>
          </a:solidFill>
          <a:ln/>
        </p:spPr>
      </p:sp>
      <p:pic>
        <p:nvPicPr>
          <p:cNvPr id="10" name="Image 2" descr="/home/claude/work/icons/fet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248" y="2818912"/>
            <a:ext cx="378927" cy="37892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99048" y="2752344"/>
            <a:ext cx="5544007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FetalWatch  </a:t>
            </a:r>
            <a:pPr indent="0" marL="0">
              <a:buNone/>
            </a:pPr>
            <a:r>
              <a:rPr lang="en-US" sz="1400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Fetal Distress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440680" y="3538728"/>
            <a:ext cx="512064" cy="512064"/>
          </a:xfrm>
          <a:prstGeom prst="ellipse">
            <a:avLst/>
          </a:prstGeom>
          <a:solidFill>
            <a:srgbClr val="0F5A6B"/>
          </a:solidFill>
          <a:ln/>
        </p:spPr>
      </p:sp>
      <p:pic>
        <p:nvPicPr>
          <p:cNvPr id="13" name="Image 3" descr="/home/claude/work/icons/preter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7248" y="3605296"/>
            <a:ext cx="378927" cy="37892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99048" y="3538728"/>
            <a:ext cx="5544007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PretermGuard  </a:t>
            </a:r>
            <a:pPr indent="0" marL="0">
              <a:buNone/>
            </a:pPr>
            <a:r>
              <a:rPr lang="en-US" sz="1400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Preterm Risk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5440680" y="4325112"/>
            <a:ext cx="512064" cy="512064"/>
          </a:xfrm>
          <a:prstGeom prst="ellipse">
            <a:avLst/>
          </a:prstGeom>
          <a:solidFill>
            <a:srgbClr val="0F5A6B"/>
          </a:solidFill>
          <a:ln/>
        </p:spPr>
      </p:sp>
      <p:pic>
        <p:nvPicPr>
          <p:cNvPr id="16" name="Image 4" descr="/home/claude/work/icons/gesta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7248" y="4391680"/>
            <a:ext cx="378927" cy="37892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099048" y="4325112"/>
            <a:ext cx="5544007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GestationInsight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5440680" y="5111496"/>
            <a:ext cx="512064" cy="512064"/>
          </a:xfrm>
          <a:prstGeom prst="ellipse">
            <a:avLst/>
          </a:prstGeom>
          <a:solidFill>
            <a:srgbClr val="0F5A6B"/>
          </a:solidFill>
          <a:ln/>
        </p:spPr>
      </p:sp>
      <p:pic>
        <p:nvPicPr>
          <p:cNvPr id="19" name="Image 5" descr="/home/claude/work/icons/carerea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7248" y="5178064"/>
            <a:ext cx="378927" cy="37892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099048" y="5111496"/>
            <a:ext cx="5544007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CareReach  </a:t>
            </a:r>
            <a:pPr indent="0" marL="0">
              <a:buNone/>
            </a:pPr>
            <a:r>
              <a:rPr lang="en-US" sz="1400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ANC Dropout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MaaHifazat AI  |  Algo Titans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3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9-Agent LangGraph Orchestration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emergency is detected, a state graph of 9 autonomous AI agents kicks in.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38755" y="1856232"/>
            <a:ext cx="4054611" cy="4379976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12700">
            <a:solidFill>
              <a:srgbClr val="D9E7E5"/>
            </a:solidFill>
            <a:prstDash val="solid"/>
          </a:ln>
          <a:effectLst>
            <a:outerShdw sx="100000" sy="100000" kx="0" ky="0" algn="bl" rotWithShape="0" blurRad="177800" dist="63500" dir="5400000">
              <a:srgbClr val="1C2B30">
                <a:alpha val="22000"/>
              </a:srgbClr>
            </a:outerShdw>
          </a:effectLst>
        </p:spPr>
      </p:sp>
      <p:pic>
        <p:nvPicPr>
          <p:cNvPr id="5" name="Image 0" descr="/home/claude/work/framed/agents_na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483" y="1965960"/>
            <a:ext cx="3835155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40680" y="1965960"/>
            <a:ext cx="62023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agents handle data quality, WHO triage, smart referrals, and automated SMS communications.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40680" y="3063240"/>
            <a:ext cx="2964028" cy="1234440"/>
          </a:xfrm>
          <a:prstGeom prst="roundRect">
            <a:avLst>
              <a:gd name="adj" fmla="val 7407"/>
            </a:avLst>
          </a:prstGeom>
          <a:solidFill>
            <a:srgbClr val="EAF3F2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30086" y="3246120"/>
            <a:ext cx="585216" cy="585216"/>
          </a:xfrm>
          <a:prstGeom prst="ellipse">
            <a:avLst/>
          </a:prstGeom>
          <a:solidFill>
            <a:srgbClr val="0F5A6B"/>
          </a:solidFill>
          <a:ln/>
        </p:spPr>
      </p:sp>
      <p:pic>
        <p:nvPicPr>
          <p:cNvPr id="9" name="Image 1" descr="/home/claude/work/icons/list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6164" y="3322198"/>
            <a:ext cx="433060" cy="4330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3886200"/>
            <a:ext cx="2689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697316" y="3063240"/>
            <a:ext cx="2964028" cy="1234440"/>
          </a:xfrm>
          <a:prstGeom prst="roundRect">
            <a:avLst>
              <a:gd name="adj" fmla="val 7407"/>
            </a:avLst>
          </a:prstGeom>
          <a:solidFill>
            <a:srgbClr val="EAF3F2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886721" y="3246120"/>
            <a:ext cx="585216" cy="585216"/>
          </a:xfrm>
          <a:prstGeom prst="ellipse">
            <a:avLst/>
          </a:prstGeom>
          <a:solidFill>
            <a:srgbClr val="0F5A6B"/>
          </a:solidFill>
          <a:ln/>
        </p:spPr>
      </p:sp>
      <p:pic>
        <p:nvPicPr>
          <p:cNvPr id="13" name="Image 2" descr="/home/claude/work/icons/stethosco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2799" y="3322198"/>
            <a:ext cx="433060" cy="4330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834476" y="3886200"/>
            <a:ext cx="2689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Triage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440680" y="4590288"/>
            <a:ext cx="2964028" cy="1234440"/>
          </a:xfrm>
          <a:prstGeom prst="roundRect">
            <a:avLst>
              <a:gd name="adj" fmla="val 7407"/>
            </a:avLst>
          </a:prstGeom>
          <a:solidFill>
            <a:srgbClr val="EAF3F2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630086" y="4773168"/>
            <a:ext cx="585216" cy="585216"/>
          </a:xfrm>
          <a:prstGeom prst="ellipse">
            <a:avLst/>
          </a:prstGeom>
          <a:solidFill>
            <a:srgbClr val="0F5A6B"/>
          </a:solidFill>
          <a:ln/>
        </p:spPr>
      </p:sp>
      <p:pic>
        <p:nvPicPr>
          <p:cNvPr id="17" name="Image 3" descr="/home/claude/work/icons/rou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164" y="4849246"/>
            <a:ext cx="433060" cy="4330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77840" y="5413248"/>
            <a:ext cx="2689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Referrals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8697316" y="4590288"/>
            <a:ext cx="2964028" cy="1234440"/>
          </a:xfrm>
          <a:prstGeom prst="roundRect">
            <a:avLst>
              <a:gd name="adj" fmla="val 7407"/>
            </a:avLst>
          </a:prstGeom>
          <a:solidFill>
            <a:srgbClr val="EAF3F2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886721" y="4773168"/>
            <a:ext cx="585216" cy="585216"/>
          </a:xfrm>
          <a:prstGeom prst="ellipse">
            <a:avLst/>
          </a:prstGeom>
          <a:solidFill>
            <a:srgbClr val="0F5A6B"/>
          </a:solidFill>
          <a:ln/>
        </p:spPr>
      </p:sp>
      <p:pic>
        <p:nvPicPr>
          <p:cNvPr id="21" name="Image 4" descr="/home/claude/work/icons/com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2799" y="4849246"/>
            <a:ext cx="433060" cy="4330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834476" y="5413248"/>
            <a:ext cx="2689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Communications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MaaHifazat AI  |  Algo Titans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3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Workflow &amp; Clinical Reporting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emergency detection to a complete, actionable clinical response.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38755" y="1856232"/>
            <a:ext cx="4054611" cy="4379976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12700">
            <a:solidFill>
              <a:srgbClr val="D9E7E5"/>
            </a:solidFill>
            <a:prstDash val="solid"/>
          </a:ln>
          <a:effectLst>
            <a:outerShdw sx="100000" sy="100000" kx="0" ky="0" algn="bl" rotWithShape="0" blurRad="177800" dist="63500" dir="5400000">
              <a:srgbClr val="1C2B30">
                <a:alpha val="22000"/>
              </a:srgbClr>
            </a:outerShdw>
          </a:effectLst>
        </p:spPr>
      </p:sp>
      <p:pic>
        <p:nvPicPr>
          <p:cNvPr id="5" name="Image 0" descr="/home/claude/work/framed/emergency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483" y="1965960"/>
            <a:ext cx="3835155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40680" y="1965960"/>
            <a:ext cx="512064" cy="512064"/>
          </a:xfrm>
          <a:prstGeom prst="ellipse">
            <a:avLst/>
          </a:prstGeom>
          <a:solidFill>
            <a:srgbClr val="0F5A6B"/>
          </a:solidFill>
          <a:ln/>
        </p:spPr>
      </p:sp>
      <p:pic>
        <p:nvPicPr>
          <p:cNvPr id="7" name="Image 1" descr="/home/claude/work/icons/rep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248" y="2032528"/>
            <a:ext cx="378927" cy="3789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9048" y="1947672"/>
            <a:ext cx="55440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3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Agent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099048" y="2295144"/>
            <a:ext cx="554400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complete clinical summary for the doctor.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40680" y="3044952"/>
            <a:ext cx="512064" cy="512064"/>
          </a:xfrm>
          <a:prstGeom prst="ellipse">
            <a:avLst/>
          </a:prstGeom>
          <a:solidFill>
            <a:srgbClr val="0F5A6B"/>
          </a:solidFill>
          <a:ln/>
        </p:spPr>
      </p:sp>
      <p:pic>
        <p:nvPicPr>
          <p:cNvPr id="11" name="Image 2" descr="/home/claude/work/icons/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248" y="3111520"/>
            <a:ext cx="378927" cy="37892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99048" y="3026664"/>
            <a:ext cx="55440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3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Referral Agent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099048" y="3374136"/>
            <a:ext cx="554400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optimal facility routes.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40680" y="4123944"/>
            <a:ext cx="512064" cy="512064"/>
          </a:xfrm>
          <a:prstGeom prst="ellipse">
            <a:avLst/>
          </a:prstGeom>
          <a:solidFill>
            <a:srgbClr val="0F5A6B"/>
          </a:solidFill>
          <a:ln/>
        </p:spPr>
      </p:sp>
      <p:pic>
        <p:nvPicPr>
          <p:cNvPr id="15" name="Image 3" descr="/home/claude/work/icons/com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7248" y="4190512"/>
            <a:ext cx="378927" cy="37892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099048" y="4105656"/>
            <a:ext cx="55440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3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Agent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099048" y="4453128"/>
            <a:ext cx="554400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Dispatches SMS alerts.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MaaHifazat AI  |  Algo Titans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3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WHO Safety Guardrails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must be reliable. We implemented deterministic safety rules: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6949440" cy="1691640"/>
          </a:xfrm>
          <a:prstGeom prst="roundRect">
            <a:avLst>
              <a:gd name="adj" fmla="val 5405"/>
            </a:avLst>
          </a:prstGeom>
          <a:solidFill>
            <a:srgbClr val="F5FAF9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528316"/>
            <a:ext cx="658368" cy="658368"/>
          </a:xfrm>
          <a:prstGeom prst="ellipse">
            <a:avLst/>
          </a:prstGeom>
          <a:solidFill>
            <a:srgbClr val="D6493B"/>
          </a:solidFill>
          <a:ln/>
        </p:spPr>
      </p:sp>
      <p:pic>
        <p:nvPicPr>
          <p:cNvPr id="6" name="Image 0" descr="/home/claude/work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548" y="2613904"/>
            <a:ext cx="487192" cy="487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31136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3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Overrides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91640" y="2670048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vitals show severe hypertension (BP &gt; 160/110) or eclampsia symptoms, the system ignores the ML prediction.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4023360"/>
            <a:ext cx="6949440" cy="1691640"/>
          </a:xfrm>
          <a:prstGeom prst="roundRect">
            <a:avLst>
              <a:gd name="adj" fmla="val 5405"/>
            </a:avLst>
          </a:prstGeom>
          <a:solidFill>
            <a:srgbClr val="F5FAF9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4539996"/>
            <a:ext cx="658368" cy="658368"/>
          </a:xfrm>
          <a:prstGeom prst="ellipse">
            <a:avLst/>
          </a:prstGeom>
          <a:solidFill>
            <a:srgbClr val="D6493B"/>
          </a:solidFill>
          <a:ln/>
        </p:spPr>
      </p:sp>
      <p:pic>
        <p:nvPicPr>
          <p:cNvPr id="11" name="Image 1" descr="/home/claude/work/icons/hospi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548" y="4625584"/>
            <a:ext cx="487192" cy="487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4242816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3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High-Risk Emergency Routing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691640" y="4681728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4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triggers an emergency triage level, forcing the orchestration agents to route the patient to an ICU.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863840" y="2011680"/>
            <a:ext cx="3779215" cy="3977640"/>
          </a:xfrm>
          <a:prstGeom prst="roundRect">
            <a:avLst>
              <a:gd name="adj" fmla="val 3387"/>
            </a:avLst>
          </a:prstGeom>
          <a:solidFill>
            <a:srgbClr val="0A3D49"/>
          </a:solidFill>
          <a:ln/>
          <a:effectLst>
            <a:outerShdw sx="100000" sy="100000" kx="0" ky="0" algn="bl" rotWithShape="0" blurRad="127000" dist="50800" dir="5400000">
              <a:srgbClr val="0A3D49">
                <a:alpha val="3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863840" y="2651760"/>
            <a:ext cx="37792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800" dirty="0"/>
          </a:p>
        </p:txBody>
      </p:sp>
      <p:sp>
        <p:nvSpPr>
          <p:cNvPr id="16" name="Shape 12"/>
          <p:cNvSpPr/>
          <p:nvPr/>
        </p:nvSpPr>
        <p:spPr>
          <a:xfrm>
            <a:off x="9250528" y="3886200"/>
            <a:ext cx="1005840" cy="0"/>
          </a:xfrm>
          <a:prstGeom prst="line">
            <a:avLst/>
          </a:prstGeom>
          <a:noFill/>
          <a:ln w="25400">
            <a:solidFill>
              <a:srgbClr val="0F5A6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9600" y="4114800"/>
            <a:ext cx="30476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guaranteed by a hybrid approach — Machine Learning plus Deterministic Rules.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MaaHifazat AI  |  Algo Titans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3D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560320"/>
            <a:ext cx="5669280" cy="5669280"/>
          </a:xfrm>
          <a:prstGeom prst="ellipse">
            <a:avLst/>
          </a:prstGeom>
          <a:solidFill>
            <a:srgbClr val="0F5A6B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840480"/>
            <a:ext cx="5120640" cy="5120640"/>
          </a:xfrm>
          <a:prstGeom prst="ellipse">
            <a:avLst/>
          </a:prstGeom>
          <a:solidFill>
            <a:srgbClr val="0F5A6B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Impact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B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MaaHifazat AI is not just a prediction tool — it is a full clinical workflow.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454298" cy="2331720"/>
          </a:xfrm>
          <a:prstGeom prst="roundRect">
            <a:avLst>
              <a:gd name="adj" fmla="val 3922"/>
            </a:avLst>
          </a:prstGeom>
          <a:solidFill>
            <a:srgbClr val="072B33">
              <a:alpha val="85000"/>
            </a:srgbClr>
          </a:solidFill>
          <a:ln w="12700">
            <a:solidFill>
              <a:srgbClr val="0F5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91741" y="2350008"/>
            <a:ext cx="768096" cy="768096"/>
          </a:xfrm>
          <a:prstGeom prst="ellipse">
            <a:avLst/>
          </a:prstGeom>
          <a:solidFill>
            <a:srgbClr val="0F5A6B"/>
          </a:solidFill>
          <a:ln/>
        </p:spPr>
      </p:sp>
      <p:pic>
        <p:nvPicPr>
          <p:cNvPr id="8" name="Image 0" descr="/home/claude/work/icons/stethosc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1594" y="2449860"/>
            <a:ext cx="568391" cy="5683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291840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3685032"/>
            <a:ext cx="290565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problem early using 5 distinct ML models.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68698" y="2057400"/>
            <a:ext cx="3454298" cy="2331720"/>
          </a:xfrm>
          <a:prstGeom prst="roundRect">
            <a:avLst>
              <a:gd name="adj" fmla="val 3922"/>
            </a:avLst>
          </a:prstGeom>
          <a:solidFill>
            <a:srgbClr val="072B33">
              <a:alpha val="85000"/>
            </a:srgbClr>
          </a:solidFill>
          <a:ln w="12700">
            <a:solidFill>
              <a:srgbClr val="0F5A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11800" y="2350008"/>
            <a:ext cx="768096" cy="768096"/>
          </a:xfrm>
          <a:prstGeom prst="ellipse">
            <a:avLst/>
          </a:prstGeom>
          <a:solidFill>
            <a:srgbClr val="0F5A6B"/>
          </a:solidFill>
          <a:ln/>
        </p:spPr>
      </p:sp>
      <p:pic>
        <p:nvPicPr>
          <p:cNvPr id="13" name="Image 1" descr="/home/claude/work/icons/ag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652" y="2449860"/>
            <a:ext cx="568391" cy="5683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51578" y="3291840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43018" y="3685032"/>
            <a:ext cx="290565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the solution using a 9-Agent architecture.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88757" y="2057400"/>
            <a:ext cx="3454298" cy="2331720"/>
          </a:xfrm>
          <a:prstGeom prst="roundRect">
            <a:avLst>
              <a:gd name="adj" fmla="val 3922"/>
            </a:avLst>
          </a:prstGeom>
          <a:solidFill>
            <a:srgbClr val="072B33">
              <a:alpha val="85000"/>
            </a:srgbClr>
          </a:solidFill>
          <a:ln w="12700">
            <a:solidFill>
              <a:srgbClr val="0F5A6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531858" y="2350008"/>
            <a:ext cx="768096" cy="768096"/>
          </a:xfrm>
          <a:prstGeom prst="ellipse">
            <a:avLst/>
          </a:prstGeom>
          <a:solidFill>
            <a:srgbClr val="0F5A6B"/>
          </a:solidFill>
          <a:ln/>
        </p:spPr>
      </p:sp>
      <p:pic>
        <p:nvPicPr>
          <p:cNvPr id="18" name="Image 2" descr="/home/claude/work/icons/hospit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710" y="2449860"/>
            <a:ext cx="568391" cy="5683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71637" y="3291840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63077" y="3685032"/>
            <a:ext cx="290565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the patient to the right facility instantly.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480060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D6493B"/>
          </a:solidFill>
          <a:ln/>
          <a:effectLst>
            <a:outerShdw sx="100000" sy="100000" kx="0" ky="0" algn="bl" rotWithShape="0" blurRad="101600" dist="38100" dir="5400000">
              <a:srgbClr val="072B33">
                <a:alpha val="35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822960" y="4800600"/>
            <a:ext cx="1054577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eliminating the ‘Three Delays,’ Algo Titans aims to drastically reduce maternal mortality.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0" y="6108192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Titans  —  Zafar Ullah (Leader)  ·  Muhammad Ali  ·  Muhammad Younus Khan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2026-09-04T07:38:43Z</dcterms:created>
  <dcterms:modified xsi:type="dcterms:W3CDTF">2026-09-04T07:38:43Z</dcterms:modified>
</cp:coreProperties>
</file>